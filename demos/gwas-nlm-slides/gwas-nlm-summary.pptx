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55502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1131689"/>
            <a:ext cx="9144000" cy="0"/>
          </a:xfrm>
          <a:prstGeom prst="line">
            <a:avLst/>
          </a:prstGeom>
          <a:noFill/>
          <a:ln w="47625">
            <a:solidFill>
              <a:srgbClr val="F39C1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253901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Measuring the True Impact of NIH Genomic Research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7950" y="682526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GWAS Discoveries and Pharmaceutical Innovation Spillovers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7950" y="1472952"/>
            <a:ext cx="505221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7950" y="1863477"/>
            <a:ext cx="4953149" cy="1964978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GWAS discoveries don't just benefit 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targets</a:t>
            </a:r>
            <a:endParaRPr lang="en-US" sz="1300" dirty="0"/>
          </a:p>
          <a:p>
            <a:pPr algn="l" marL="114300" indent="-1143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spills over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biologically related gene-disease pairs through pathway networks</a:t>
            </a:r>
            <a:endParaRPr lang="en-US" sz="1300" dirty="0"/>
          </a:p>
          <a:p>
            <a:pPr algn="l" marL="114300" indent="-1143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 directly-linked pair, 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additional pairs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increased pharmaceutical patenting</a:t>
            </a:r>
            <a:endParaRPr lang="en-US" sz="1300" dirty="0"/>
          </a:p>
          <a:p>
            <a:pPr algn="l" marL="114300" indent="-1143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707K gene-disease pairs affected across 21 years of patent data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15149" y="2127200"/>
            <a:ext cx="3048000" cy="1657201"/>
          </a:xfrm>
          <a:prstGeom prst="roundRect">
            <a:avLst>
              <a:gd name="adj" fmla="val 9196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73289" y="2444651"/>
            <a:ext cx="2331720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60x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6073289" y="3257401"/>
            <a:ext cx="23317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Spillover Multiplier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0" y="4756249"/>
            <a:ext cx="9144000" cy="387251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7950" y="4883200"/>
            <a:ext cx="377796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Tranchero, Guthmann et al. | Wharton School, University of Pennsylvania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110163" y="4883200"/>
            <a:ext cx="35964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GWAS Catalog, USPTO Patents, KEGG Pathways (2000-2020)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46100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927050"/>
            <a:ext cx="9144000" cy="0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90500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Novel Landscape Model for Gene-Disease Relationships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5651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Quantifying Knowledge Proximity Through Biological Networks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7950" y="1136600"/>
            <a:ext cx="2540050" cy="1504355"/>
          </a:xfrm>
          <a:prstGeom prst="roundRect">
            <a:avLst>
              <a:gd name="adj" fmla="val 5065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155650"/>
            <a:ext cx="2540050" cy="0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651" y="1327100"/>
            <a:ext cx="22283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Pathway Distance (KEGG)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651" y="1574750"/>
            <a:ext cx="2184648" cy="86305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1-hop:</a:t>
            </a:r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Direct pathway neighbors</a:t>
            </a:r>
            <a:endParaRPr lang="en-US" sz="1000" dirty="0"/>
          </a:p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2-hop:</a:t>
            </a:r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Shared pathway partners</a:t>
            </a:r>
            <a:endParaRPr lang="en-US" sz="1000" dirty="0"/>
          </a:p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3-hop:</a:t>
            </a:r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Extended network</a:t>
            </a:r>
            <a:endParaRPr lang="en-US" sz="1000" dirty="0"/>
          </a:p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30K+ genes, avg 31 connections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01901" y="1136600"/>
            <a:ext cx="2540198" cy="1504355"/>
          </a:xfrm>
          <a:prstGeom prst="roundRect">
            <a:avLst>
              <a:gd name="adj" fmla="val 5065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301901" y="1155650"/>
            <a:ext cx="2540198" cy="0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9602" y="1327100"/>
            <a:ext cx="22284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 Hierarchy (MeSH)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9602" y="1574750"/>
            <a:ext cx="2184797" cy="86305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Tree-structured taxonomy</a:t>
            </a:r>
            <a:endParaRPr lang="en-US" sz="1000" dirty="0"/>
          </a:p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 3-5 optimal granularity</a:t>
            </a:r>
            <a:endParaRPr lang="en-US" sz="1000" dirty="0"/>
          </a:p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924 diseases mapped</a:t>
            </a:r>
            <a:endParaRPr lang="en-US" sz="1000" dirty="0"/>
          </a:p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Fuzzy matching at 90%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96000" y="1136600"/>
            <a:ext cx="2540050" cy="1504355"/>
          </a:xfrm>
          <a:prstGeom prst="roundRect">
            <a:avLst>
              <a:gd name="adj" fmla="val 5065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096000" y="1155650"/>
            <a:ext cx="2540050" cy="0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73701" y="1327100"/>
            <a:ext cx="22283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Patent-Gene-Disease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73701" y="1574750"/>
            <a:ext cx="2184648" cy="86305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140M patent associations</a:t>
            </a:r>
            <a:endParaRPr lang="en-US" sz="1000" dirty="0"/>
          </a:p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7M unique gene-disease pairs</a:t>
            </a:r>
            <a:endParaRPr lang="en-US" sz="1000" dirty="0"/>
          </a:p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years (2000-2020)</a:t>
            </a:r>
            <a:endParaRPr lang="en-US" sz="1000" dirty="0"/>
          </a:p>
          <a:p>
            <a:pPr algn="l" marL="76200" indent="-762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 confidence filter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7950" y="3848844"/>
            <a:ext cx="8128099" cy="850404"/>
          </a:xfrm>
          <a:prstGeom prst="roundRect">
            <a:avLst>
              <a:gd name="adj" fmla="val 8960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15901" y="4001244"/>
            <a:ext cx="72544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NLM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15901" y="4217045"/>
            <a:ext cx="7254442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framework enables rigorous measurement of how NIH-funded discoveries propagate through the biomedical knowledge graph, providing evidence-based ROI assessment for genomic research investments.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0" y="4826198"/>
            <a:ext cx="9144000" cy="317302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7950" y="4927699"/>
            <a:ext cx="829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Tranchero, Guthmann et al. | Wharton School, University of Pennsylvania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GWAS Spillover Analysis - NLM Summary</dc:title>
  <dc:subject>Measuring the ROI of NIH Genomic Research</dc:subject>
  <dc:creator>Tranchero, Guthmann et al.</dc:creator>
  <cp:lastModifiedBy>Tranchero, Guthmann et al.</cp:lastModifiedBy>
  <cp:revision>1</cp:revision>
  <dcterms:created xsi:type="dcterms:W3CDTF">2026-02-05T17:01:54Z</dcterms:created>
  <dcterms:modified xsi:type="dcterms:W3CDTF">2026-02-05T17:01:54Z</dcterms:modified>
</cp:coreProperties>
</file>